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00200"/>
            <a:ext cx="822960" cy="73152"/>
          </a:xfrm>
          <a:prstGeom prst="rect">
            <a:avLst/>
          </a:prstGeom>
          <a:solidFill>
            <a:srgbClr val="1FA9B8"/>
          </a:solidFill>
          <a:ln w="12700">
            <a:solidFill>
              <a:srgbClr val="1FA9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783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Exploratory Data Analysis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9DCE3"/>
                </a:solidFill>
              </a:rPr>
              <a:t>Dataset Diamonds (Kaggle) &amp; Prediksi Harga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8"/>
                </a:solidFill>
              </a:rPr>
              <a:t>53.940 data  •  EDA, preprocessing, Linear Regression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Nama: Muhammad Raffi (2488010046)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A9B8"/>
          </a:solidFill>
          <a:ln w="12700">
            <a:solidFill>
              <a:srgbClr val="1FA9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</a:rPr>
              <a:t>Gambaran Dataset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D"/>
                </a:solidFill>
              </a:rPr>
              <a:t>Sumber: Kaggle – shivam2503/diamonds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A9B8"/>
                </a:solidFill>
              </a:rPr>
              <a:t>53.940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D"/>
                </a:solidFill>
              </a:rPr>
              <a:t>baris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A9B8"/>
                </a:solidFill>
              </a:rPr>
              <a:t>11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194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D"/>
                </a:solidFill>
              </a:rPr>
              <a:t>kolom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554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A9B8"/>
                </a:solidFill>
              </a:rPr>
              <a:t>0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194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D"/>
                </a:solidFill>
              </a:rPr>
              <a:t>missing value &amp; duplikat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0175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</a:rPr>
              <a:t>Target: price (harga berlian, USD)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</a:rPr>
              <a:t>Fitur numerik: carat, depth, table, x, y, z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</a:rPr>
              <a:t>Fitur kategorikal ordinal: cut, color, clarity (urutan mengikuti deskripsi dataset)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</a:rPr>
              <a:t>Kolom "Unnamed: 0" hanya index, dibuang dari analisis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A9B8"/>
          </a:solidFill>
          <a:ln w="12700">
            <a:solidFill>
              <a:srgbClr val="1FA9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</a:rPr>
              <a:t>Distribusi Harga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D"/>
                </a:solidFill>
              </a:rPr>
              <a:t>Harga sangat condong ke kanan (right-skewed)</a:t>
            </a:r>
            <a:endParaRPr lang="en-US" sz="1400" dirty="0"/>
          </a:p>
        </p:txBody>
      </p:sp>
      <p:pic>
        <p:nvPicPr>
          <p:cNvPr id="5" name="Image 0" descr="img/c17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4846320" cy="2889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577840" y="137160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</a:rPr>
              <a:t>Rata-rata $3.933, median $2.401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</a:rPr>
              <a:t>Rentang $326 – $18.823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</a:rPr>
              <a:t>Banyak berlian murah, sedikit yang sangat mahal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</a:rPr>
              <a:t>Karena itu target ditransformasi log saat modeling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A9B8"/>
          </a:solidFill>
          <a:ln w="12700">
            <a:solidFill>
              <a:srgbClr val="1FA9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</a:rPr>
              <a:t>Pembersihan Outlier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D"/>
                </a:solidFill>
              </a:rPr>
              <a:t>Dari 53.940 menjadi 50.988 baris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</a:rPr>
              <a:t>Dimensi bernilai 0: x = 8 baris, y = 7 baris, z = 20 baris (tidak valid)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</a:rPr>
              <a:t>Nilai ekstrem tidak masuk akal: y = 58,9 mm dan z = 31,8 mm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</a:rPr>
              <a:t>Filter: x, y, z &gt; 0 serta y, z &lt; 30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</a:rPr>
              <a:t>Outlier depth dan table dibuang dengan metode IQR (faktor 1,5)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60720" y="146304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0" y="1645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A9B8"/>
                </a:solidFill>
              </a:rPr>
              <a:t>−2.952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2286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D"/>
                </a:solidFill>
              </a:rPr>
              <a:t>baris dibuang (±5,5%)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30175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D"/>
                </a:solidFill>
              </a:rPr>
              <a:t>Catatan: pendekatan outlier (hapus vs ganti nilai) masih perlu dipelajari lebih lanjut.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A9B8"/>
          </a:solidFill>
          <a:ln w="12700">
            <a:solidFill>
              <a:srgbClr val="1FA9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</a:rPr>
              <a:t>Hubungan Antar Fitur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D"/>
                </a:solidFill>
              </a:rPr>
              <a:t>Heatmap korelasi dan carat vs price</a:t>
            </a:r>
            <a:endParaRPr lang="en-US" sz="1400" dirty="0"/>
          </a:p>
        </p:txBody>
      </p:sp>
      <p:pic>
        <p:nvPicPr>
          <p:cNvPr id="5" name="Image 0" descr="img/c26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023360" cy="3008376"/>
          </a:xfrm>
          <a:prstGeom prst="rect">
            <a:avLst/>
          </a:prstGeom>
        </p:spPr>
      </p:pic>
      <p:pic>
        <p:nvPicPr>
          <p:cNvPr id="6" name="Image 1" descr="img/c21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23500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54880" y="37490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</a:rPr>
              <a:t>Carat (dan ukuran x, y, z) menunjukkan hubungan paling kuat dengan harga.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A9B8"/>
          </a:solidFill>
          <a:ln w="12700">
            <a:solidFill>
              <a:srgbClr val="1FA9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</a:rPr>
              <a:t>Encoding Fitur Kategorikal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D"/>
                </a:solidFill>
              </a:rPr>
              <a:t>Ordinal encoding: angka mengikuti urutan kualitas (rendah → tinggi)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560320" cy="29718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A9B8"/>
                </a:solidFill>
              </a:rPr>
              <a:t>cut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A3A"/>
                </a:solidFill>
              </a:rPr>
              <a:t>Fair → 1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A3A"/>
                </a:solidFill>
              </a:rPr>
              <a:t>Good → 2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A3A"/>
                </a:solidFill>
              </a:rPr>
              <a:t>Very Good → 3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A3A"/>
                </a:solidFill>
              </a:rPr>
              <a:t>Premium → 4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A3A"/>
                </a:solidFill>
              </a:rPr>
              <a:t>Ideal → 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325880"/>
            <a:ext cx="2560320" cy="29718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A9B8"/>
                </a:solidFill>
              </a:rPr>
              <a:t>color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82880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A3A"/>
                </a:solidFill>
              </a:rPr>
              <a:t>J → 1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A3A"/>
                </a:solidFill>
              </a:rPr>
              <a:t>I → 2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A3A"/>
                </a:solidFill>
              </a:rPr>
              <a:t>H → 3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A3A"/>
                </a:solidFill>
              </a:rPr>
              <a:t>G → 4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A3A"/>
                </a:solidFill>
              </a:rPr>
              <a:t>F → 5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A3A"/>
                </a:solidFill>
              </a:rPr>
              <a:t>E → 6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A3A"/>
                </a:solidFill>
              </a:rPr>
              <a:t>D → 7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325880"/>
            <a:ext cx="2560320" cy="29718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A9B8"/>
                </a:solidFill>
              </a:rPr>
              <a:t>clarity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82880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A3A"/>
                </a:solidFill>
              </a:rPr>
              <a:t>I1 → 1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A3A"/>
                </a:solidFill>
              </a:rPr>
              <a:t>SI2 → 2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A3A"/>
                </a:solidFill>
              </a:rPr>
              <a:t>SI1 → 3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A3A"/>
                </a:solidFill>
              </a:rPr>
              <a:t>VS2 → 4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A3A"/>
                </a:solidFill>
              </a:rPr>
              <a:t>VS1 → 5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A3A"/>
                </a:solidFill>
              </a:rPr>
              <a:t>VVS2 → 6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A3A"/>
                </a:solidFill>
              </a:rPr>
              <a:t>VVS1 → 7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A3A"/>
                </a:solidFill>
              </a:rPr>
              <a:t>IF → 8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D"/>
                </a:solidFill>
              </a:rPr>
              <a:t>Dipilih ordinal (bukan one-hot) karena ketiga fitur punya urutan alami sesuai deskripsi dataset.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A9B8"/>
          </a:solidFill>
          <a:ln w="12700">
            <a:solidFill>
              <a:srgbClr val="1FA9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</a:rPr>
              <a:t>Pemodelan: Linear Regression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D"/>
                </a:solidFill>
              </a:rPr>
              <a:t>Hasil evaluasi pada data uji (20%)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A9B8"/>
                </a:solidFill>
              </a:rPr>
              <a:t>0,95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D"/>
                </a:solidFill>
              </a:rPr>
              <a:t>R² Score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A9B8"/>
                </a:solidFill>
              </a:rPr>
              <a:t>$456,78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194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D"/>
                </a:solidFill>
              </a:rPr>
              <a:t>MAE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554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A9B8"/>
                </a:solidFill>
              </a:rPr>
              <a:t>$891,91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194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D"/>
                </a:solidFill>
              </a:rPr>
              <a:t>RMSE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0175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</a:rPr>
              <a:t>Split data 80:20 (random_state = 42)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</a:rPr>
              <a:t>Encoding ordinal untuk cut, color, clarity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</a:rPr>
              <a:t>StandardScaler pada carat, depth, table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</a:rPr>
              <a:t>Target di-log (log1p), prediksi dikembalikan dengan expm1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Kesimpulan &amp; Langkah Lanjut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EF5"/>
                </a:solidFill>
              </a:rPr>
              <a:t>Data bersih: tanpa missing value dan duplikat, hanya outlier yang perlu ditangani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EF5"/>
                </a:solidFill>
              </a:rPr>
              <a:t>Carat adalah penentu harga utama; harga condong ke kanan sehingga log transform membantu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EF5"/>
                </a:solidFill>
              </a:rPr>
              <a:t>Linear Regression sederhana sudah mencapai R² 0,95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6EEF5"/>
                </a:solidFill>
              </a:rPr>
              <a:t>Berikutnya: kaji ulang strategi outlier, coba model non-linear (Random Forest, Gradient Boosting)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Diamonds Dataset</dc:title>
  <dc:subject>PptxGenJS Presentation</dc:subject>
  <dc:creator>PptxGenJS</dc:creator>
  <cp:lastModifiedBy>PptxGenJS</cp:lastModifiedBy>
  <cp:revision>1</cp:revision>
  <dcterms:created xsi:type="dcterms:W3CDTF">2026-10-04T21:50:52Z</dcterms:created>
  <dcterms:modified xsi:type="dcterms:W3CDTF">2026-10-04T21:50:52Z</dcterms:modified>
</cp:coreProperties>
</file>